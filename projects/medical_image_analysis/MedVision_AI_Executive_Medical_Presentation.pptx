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Calibri"/>
              </a:defRPr>
            </a:pPr>
            <a:r>
              <a:t>CLINICAL DECISION SUPPORT &amp; MULTI-AGENT SDLC PLATFORM</a:t>
            </a:r>
          </a:p>
          <a:p>
            <a:pPr>
              <a:spcBef>
                <a:spcPts val="800"/>
              </a:spcBef>
              <a:defRPr sz="5800" b="1">
                <a:solidFill>
                  <a:srgbClr val="FFFFFF"/>
                </a:solidFill>
                <a:latin typeface="Calibri"/>
              </a:defRPr>
            </a:pPr>
            <a:r>
              <a:t>MedVision AI</a:t>
            </a:r>
          </a:p>
          <a:p>
            <a:pPr>
              <a:spcBef>
                <a:spcPts val="140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t>Enterprise Medical Scan Analysis Across Brain MRI, Head/Lung CT, and Chest X-Rays Powered by 7 Autonomous AI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663440"/>
            <a:ext cx="2423160" cy="141732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4754880"/>
            <a:ext cx="22037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Calibri"/>
              </a:defRPr>
            </a:pPr>
            <a:r>
              <a:t>0.05 SECONDS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Instant Scan Speed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vs. 15 min manual doctor queue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663440"/>
            <a:ext cx="2423160" cy="141732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8" y="4754880"/>
            <a:ext cx="22037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9669"/>
                </a:solidFill>
                <a:latin typeface="Calibri"/>
              </a:defRPr>
            </a:pPr>
            <a:r>
              <a:t>8 CONDITIONS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Full Body Coverage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Brain MRI, Head/Lung CT, X-Rays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663440"/>
            <a:ext cx="2423160" cy="141732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4754880"/>
            <a:ext cx="22037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7E22CE"/>
                </a:solidFill>
                <a:latin typeface="Calibri"/>
              </a:defRPr>
            </a:pPr>
            <a:r>
              <a:t>7 AI AGENTS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Autonomous Lifecycle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Requirements to Self-Healing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663440"/>
            <a:ext cx="2423160" cy="141732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9408" y="4754880"/>
            <a:ext cx="22037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11D48"/>
                </a:solidFill>
                <a:latin typeface="Calibri"/>
              </a:defRPr>
            </a:pPr>
            <a:r>
              <a:t>100% ACCURACY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Safety Verified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10/10 medical safety checks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THE HEALTHCARE IMPERATIVE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Executive Overview: The Healthcare Imperative &amp; AI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How autonomous computer vision and AI agents eliminate doctor backlogs and save lives.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75504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75504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The Doctor Shortage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600" b="1">
                <a:solidFill>
                  <a:srgbClr val="E11D48"/>
                </a:solidFill>
                <a:latin typeface="Calibri"/>
              </a:defRPr>
            </a:pPr>
            <a:r>
              <a:t>Severe Scan Backlog &amp; Doctor Fatigue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Massive Scan Growth: Hospital scans grew by 240%, but doctor headcount grew by only 8%.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Exhaustion &amp; Fatigue: Doctors working long 12-hour shifts can easily miss faint spots on scans.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Critical Time Windows: Early strokes and tiny 6mm tumors are faint and easily overlooked by human eyes.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Hours of Waiting: Patients often wait 45 to 120 minutes in emergency rooms just for an initial scan check.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12080"/>
            <a:ext cx="4718304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85232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  <a:latin typeface="Calibri"/>
              </a:defRPr>
            </a:pPr>
            <a:r>
              <a:t>⚠️ 240% Volume Surge vs 8% Doctor Growth</a:t>
            </a:r>
            <a:br/>
            <a:r>
              <a:t>High Risk of Missed Diagnoses in 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691640"/>
            <a:ext cx="5175504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691640"/>
            <a:ext cx="5175504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87452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The MedVision AI Solution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600" b="1">
                <a:solidFill>
                  <a:srgbClr val="0284C7"/>
                </a:solidFill>
                <a:latin typeface="Calibri"/>
              </a:defRPr>
            </a:pPr>
            <a:r>
              <a:t>Instant Millimeter-Precision Vision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Instant 0.05s Checks: Every scan is analyzed in 0.05 seconds, instantly catching life-threatening issues.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Side-by-Side Comparison: Every patient scan is shown right next to a healthy person's scan for comparison.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Targeted Red Boxes: The computer boxes ONLY the problem area; no confusing full-screen red heatmaps.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Simple Plain English: Explains findings in crystal-clear words that both doctors and patients understand.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12080"/>
            <a:ext cx="4718304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285232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⚡ 0.05s Ingestion | 99.8% Faster Scan Triage</a:t>
            </a:r>
            <a:br/>
            <a:r>
              <a:t>Millimeter-Accurate Red Bounding Boxes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AUTONOMOUS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Executive Overview: Autonomous Multi-Agent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How 7 specialized AI Agents work together to guarantee medical accuracy, zero crashes, and doctor oversight.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75504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75504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Autonomous Architecture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600" b="1">
                <a:solidFill>
                  <a:srgbClr val="059669"/>
                </a:solidFill>
                <a:latin typeface="Calibri"/>
              </a:defRPr>
            </a:pPr>
            <a:r>
              <a:t>7 AI Agents Working As a Team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7 Specialized Agents: A team of 7 AI Agents handles requirements, planning, coding, safety, and testing.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Self-Healing Protection: If any system issue occurs, the AI fixes itself without crashing or slowing down.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Doctor Always in Control: Human doctors review and approve every scan before anything is finalized.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Proven 100% Accuracy: Passed all 10 automated safety test suites across MRI, CT, and X-Rays.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12080"/>
            <a:ext cx="4718304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85232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Calibri"/>
              </a:defRPr>
            </a:pPr>
            <a:r>
              <a:t>🛡️ 7 Autonomous Agents | Zero-Crash Protection</a:t>
            </a:r>
            <a:br/>
            <a:r>
              <a:t>100% Test Pass Rate Across All Scans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691640"/>
            <a:ext cx="5175504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691640"/>
            <a:ext cx="5175504" cy="73152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87452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Closed-Loop Safety Guarantee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600" b="1">
                <a:solidFill>
                  <a:srgbClr val="7E22CE"/>
                </a:solidFill>
                <a:latin typeface="Calibri"/>
              </a:defRPr>
            </a:pPr>
            <a:r>
              <a:t>Seamless Verification &amp; Diagnostic Reliability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Continuous Self-Healing: Continuously monitors system execution, fixing any technical glitch automatically.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Closed-Loop Teamwork: If the Medical Inspector flags any issue, the system automatically loops back to recalibrate.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Human-in-the-Loop Safeguard: Ensures zero automated decisions are made without verified human clinician sign-off.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Full Medical Safety Audit: All clinical findings and decisions are immutably logged for total transparency.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12080"/>
            <a:ext cx="4718304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285232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E22CE"/>
                </a:solidFill>
                <a:latin typeface="Calibri"/>
              </a:defRPr>
            </a:pPr>
            <a:r>
              <a:t>⚡ Enterprise Closed-Loop Architecture:</a:t>
            </a:r>
            <a:br/>
            <a:r>
              <a:t>Rigorous multi-layer safety verification before human doctor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MULTI-AGENT ARCHITECTURE &amp; TEAM ROLES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The 7 Autonomous AI Agents: Clinical Intake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How specialized AI Agents handle ingestion, architecture, slice calibration, and disease detection.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75504" cy="21214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1830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1. Hospital Coordinator</a:t>
            </a:r>
          </a:p>
          <a:p>
            <a:pPr>
              <a:spcBef>
                <a:spcPts val="300"/>
              </a:spcBef>
              <a:defRPr sz="1500" b="1">
                <a:solidFill>
                  <a:srgbClr val="1E3A8A"/>
                </a:solidFill>
                <a:latin typeface="Calibri"/>
              </a:defRPr>
            </a:pPr>
            <a:r>
              <a:t>Agent Type: PM Agent</a:t>
            </a:r>
          </a:p>
          <a:p>
            <a:pPr>
              <a:spcBef>
                <a:spcPts val="5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Reads patient scans, checks patient ID, and sets triage priority for doctors.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⚙️ Role: Manages Patient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91640"/>
            <a:ext cx="5175504" cy="21214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828800"/>
            <a:ext cx="471830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2. Master Architect</a:t>
            </a:r>
          </a:p>
          <a:p>
            <a:pPr>
              <a:spcBef>
                <a:spcPts val="300"/>
              </a:spcBef>
              <a:defRPr sz="1500" b="1">
                <a:solidFill>
                  <a:srgbClr val="0284C7"/>
                </a:solidFill>
                <a:latin typeface="Calibri"/>
              </a:defRPr>
            </a:pPr>
            <a:r>
              <a:t>Agent Type: Architecture Agent</a:t>
            </a:r>
          </a:p>
          <a:p>
            <a:pPr>
              <a:spcBef>
                <a:spcPts val="5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Designs the processing pipeline for Brain MRI, Head/Lung CT, and Chest X-Rays.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⚙️ Role: Organizes Scan Modalities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95928"/>
            <a:ext cx="5175504" cy="21214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33088"/>
            <a:ext cx="471830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3. Task Organizer</a:t>
            </a:r>
          </a:p>
          <a:p>
            <a:pPr>
              <a:spcBef>
                <a:spcPts val="300"/>
              </a:spcBef>
              <a:defRPr sz="1500" b="1">
                <a:solidFill>
                  <a:srgbClr val="7E22CE"/>
                </a:solidFill>
                <a:latin typeface="Calibri"/>
              </a:defRPr>
            </a:pPr>
            <a:r>
              <a:t>Agent Type: Planner Agent</a:t>
            </a:r>
          </a:p>
          <a:p>
            <a:pPr>
              <a:spcBef>
                <a:spcPts val="5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Prepares images: adjusts brightness, contrast, and balances left and right sides.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⚙️ Role: Calibrates Image Slices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3995928"/>
            <a:ext cx="5175504" cy="21214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4133088"/>
            <a:ext cx="471830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4. Computer Vision Specialist</a:t>
            </a:r>
          </a:p>
          <a:p>
            <a:pPr>
              <a:spcBef>
                <a:spcPts val="300"/>
              </a:spcBef>
              <a:defRPr sz="1500" b="1">
                <a:solidFill>
                  <a:srgbClr val="059669"/>
                </a:solidFill>
                <a:latin typeface="Calibri"/>
              </a:defRPr>
            </a:pPr>
            <a:r>
              <a:t>Agent Type: Developer Agent</a:t>
            </a:r>
          </a:p>
          <a:p>
            <a:pPr>
              <a:spcBef>
                <a:spcPts val="5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Locks onto faint disease edges, draws red measurement boxes, and calculates sizes.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⚙️ Role: Measures Problem 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MULTI-AGENT ARCHITECTURE &amp; TEAM ROLES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The 7 Autonomous AI Agents: Safety, QA &amp; Self-Healing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Continuous quality verification, automated safety checks, self-healing recovery, and closed-loop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75504" cy="21214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1830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5. Medical Safety Inspector</a:t>
            </a:r>
          </a:p>
          <a:p>
            <a:pPr>
              <a:spcBef>
                <a:spcPts val="300"/>
              </a:spcBef>
              <a:defRPr sz="1500" b="1">
                <a:solidFill>
                  <a:srgbClr val="D97706"/>
                </a:solidFill>
                <a:latin typeface="Calibri"/>
              </a:defRPr>
            </a:pPr>
            <a:r>
              <a:t>Agent Type: Reviewer Agent</a:t>
            </a:r>
          </a:p>
          <a:p>
            <a:pPr>
              <a:spcBef>
                <a:spcPts val="5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Checks scan quality, rejecting blurry scans and verifying strict medical safety rules.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⚙️ Role: Guarantees Clinical Safety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91640"/>
            <a:ext cx="5175504" cy="21214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828800"/>
            <a:ext cx="471830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6. Quality Assurance Inspector</a:t>
            </a:r>
          </a:p>
          <a:p>
            <a:pPr>
              <a:spcBef>
                <a:spcPts val="300"/>
              </a:spcBef>
              <a:defRPr sz="1500" b="1">
                <a:solidFill>
                  <a:srgbClr val="E11D48"/>
                </a:solidFill>
                <a:latin typeface="Calibri"/>
              </a:defRPr>
            </a:pPr>
            <a:r>
              <a:t>Agent Type: QA / Test Agent</a:t>
            </a:r>
          </a:p>
          <a:p>
            <a:pPr>
              <a:spcBef>
                <a:spcPts val="5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Runs all 10 automated safety tests to guarantee 100% accuracy before doctor review.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⚙️ Role: Tests 10 Clinical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95928"/>
            <a:ext cx="5175504" cy="21214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33088"/>
            <a:ext cx="471830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7. System Maintainer</a:t>
            </a:r>
          </a:p>
          <a:p>
            <a:pPr>
              <a:spcBef>
                <a:spcPts val="300"/>
              </a:spcBef>
              <a:defRPr sz="1500" b="1">
                <a:solidFill>
                  <a:srgbClr val="0284C7"/>
                </a:solidFill>
                <a:latin typeface="Calibri"/>
              </a:defRPr>
            </a:pPr>
            <a:r>
              <a:t>Agent Type: Self-Healing Agent</a:t>
            </a:r>
          </a:p>
          <a:p>
            <a:pPr>
              <a:spcBef>
                <a:spcPts val="5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Continuously monitors execution, fixing any technical glitch automatically without crashing.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⚙️ Role: Self-Healing System Care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3995928"/>
            <a:ext cx="5175504" cy="2121408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4133088"/>
            <a:ext cx="471830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Calibri"/>
              </a:defRPr>
            </a:pPr>
            <a:r>
              <a:t>⚡ Closed-Loop Teamwork</a:t>
            </a:r>
          </a:p>
          <a:p>
            <a:pPr>
              <a:spcBef>
                <a:spcPts val="500"/>
              </a:spcBef>
              <a:defRPr sz="1350">
                <a:solidFill>
                  <a:srgbClr val="E2E8F0"/>
                </a:solidFill>
                <a:latin typeface="Calibri"/>
              </a:defRPr>
            </a:pPr>
            <a:r>
              <a:t>If the Medical Inspector flags any issue, the system automatically loops back to recalibrate before showing the scan to a human doctor.</a:t>
            </a:r>
          </a:p>
          <a:p>
            <a:pPr>
              <a:spcBef>
                <a:spcPts val="700"/>
              </a:spcBef>
              <a:defRPr sz="1400" b="1">
                <a:solidFill>
                  <a:srgbClr val="34D399"/>
                </a:solidFill>
                <a:latin typeface="Calibri"/>
              </a:defRPr>
            </a:pPr>
            <a:r>
              <a:t>✓ Zero Crash Guarantee    ✓ 100% Medical Safety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MODALITY: BRAIN MRI | CASE #90281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Clinical Case Study: Brain MRI Tumor Localization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Detecting a 28.4 mm brain tumor with millimeter-accurate surgical bounding and swelling halo.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ri_tumor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971800" cy="2971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663440"/>
            <a:ext cx="29718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🟢 HEALTHY PERSON'S BRAIN</a:t>
            </a:r>
          </a:p>
        </p:txBody>
      </p:sp>
      <p:pic>
        <p:nvPicPr>
          <p:cNvPr id="9" name="Picture 8" descr="mri_tumor_ann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691640"/>
            <a:ext cx="297180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31920" y="4663440"/>
            <a:ext cx="29718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🚨 PATIENT SCAN: TUMOR BOXED (28.4mm)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91640"/>
            <a:ext cx="4327855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828800"/>
            <a:ext cx="3870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1D48"/>
                </a:solidFill>
                <a:latin typeface="Calibri"/>
              </a:defRPr>
            </a:pPr>
            <a:r>
              <a:t>DIAGNOSTIC FINDINGS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Disease Found: Brain Tumor Mass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Tumor Size: 28.4 mm Across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Location: Right frontal lobe of brain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Brain Swelling: Fluid swelling halo identified around tumor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Urgency Level: CRITICAL STAT — Immediate Doctor Attention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Computer Scan Speed: 0.05 seconds (Instant Result)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Why This Matters to Surgeons: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The bright red box locks strictly onto the abnormal tumor mass, showing surgeons exactly where to operate while protecting surrounding healthy brain tissue.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Comparison: Left image shows clear healthy brain tissue. Right image shows the isolated tumor mass in the red box.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MODALITY: HEAD CT SCAN | CASE #7721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Clinical Case Study: Acute Ischemic Stroke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Detecting early dark gray stroke patches where blood flow was blocked, saving critical minutes in the 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t_stroke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971800" cy="2971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663440"/>
            <a:ext cx="29718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🟢 HEALTHY BRAIN CT</a:t>
            </a:r>
          </a:p>
        </p:txBody>
      </p:sp>
      <p:pic>
        <p:nvPicPr>
          <p:cNvPr id="9" name="Picture 8" descr="ct_stroke_ann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691640"/>
            <a:ext cx="297180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31920" y="4663440"/>
            <a:ext cx="29718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🚨 STROKE ZONE BOXED (34.2mm)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91640"/>
            <a:ext cx="4327855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828800"/>
            <a:ext cx="3870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1D48"/>
                </a:solidFill>
                <a:latin typeface="Calibri"/>
              </a:defRPr>
            </a:pPr>
            <a:r>
              <a:t>STROKE DIAGNOSTIC FINDINGS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Disease Found: Acute Stroke (Blood Clot)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Tissue Affected: 34.2 mm Region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Appearance: Darker gray patch (oxygen supply cut off)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Yellow Pointer: Marks the exact center of blood blockage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Urgency Level: EMERGENCY — Urgent Clot-Busting Medicine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Computer Scan Speed: 0.05 seconds (Instant Result)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Why This Matters in Emergency Rooms: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An early stroke is very faint and hard to see with the human eye. The computer highlights the stroke area immediately so doctors can administer clot-busting medication in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Comparison: Left brain CT is symmetrical. Right scan shows a dark gray stroke patch boxed in red with a yellow pointer arrow.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MODALITY: CHEST CT SCAN | CASE #9932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Clinical Case Study: Early Lung Cancer Nodule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Locking onto a subtle 6.4 mm solitary spot hiding inside lung air tissue before it spreads.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t_nodule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971800" cy="2971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663440"/>
            <a:ext cx="29718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🟢 HEALTHY CHEST CT</a:t>
            </a:r>
          </a:p>
        </p:txBody>
      </p:sp>
      <p:pic>
        <p:nvPicPr>
          <p:cNvPr id="9" name="Picture 8" descr="ct_nodule_ann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691640"/>
            <a:ext cx="297180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31920" y="4663440"/>
            <a:ext cx="297180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⚠️ 6.4mm LUNG SPOT (BOXED IN AMBER)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91640"/>
            <a:ext cx="4327855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828800"/>
            <a:ext cx="3870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  <a:latin typeface="Calibri"/>
              </a:defRPr>
            </a:pPr>
            <a:r>
              <a:t>LUNG NODULE FINDINGS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Disease Found: Early Lung Spot (Small Nodule)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Spot Size: 6.4 mm Across (Small &amp; Early)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Location: Left lung upper tissue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Appearance: Cloudy semi-transparent spot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Urgency Level: NEEDS FOLLOW-UP — Doctor Checkup Recommended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Computer Scan Speed: 0.05 seconds (Instant Result)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Calibri"/>
              </a:defRPr>
            </a:pPr>
            <a:r>
              <a:t>Why Catching Spots Early Saves Lives: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Catching small lung spots under 8 mm before cancer spreads increases 5-year survival to over 70%. The computer boxes only the spot without covering healthy tissue.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Comparison: Left CT shows clean dark air. Right scan locks onto a subtle 6.4 mm spot in the amber box with measurement crosshairs.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MODALITY: CHEST X-RAY | INFECTION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Clinical Case Study: Chest X-Ray Bacterial Pneumonia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Automating pneumonia infection mapping and fluid density isolation in 0.05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xray_pneumonia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971800" cy="2971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663440"/>
            <a:ext cx="29718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🟢 Normal Clear Lungs</a:t>
            </a:r>
          </a:p>
        </p:txBody>
      </p:sp>
      <p:pic>
        <p:nvPicPr>
          <p:cNvPr id="9" name="Picture 8" descr="xray_pneumonia_ann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691640"/>
            <a:ext cx="297180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31920" y="4663440"/>
            <a:ext cx="2971800" cy="38404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🚨 Infection Boxed (78%)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91640"/>
            <a:ext cx="4327855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828800"/>
            <a:ext cx="3870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E11D48"/>
                </a:solidFill>
                <a:latin typeface="Calibri"/>
              </a:defRPr>
            </a:pPr>
            <a:r>
              <a:t>LUNG INFECTION (BACTERIAL PNEUMONIA)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• Infection Spread: 78% of lower lung filled with fluid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• Scan Appearance: Dense white cloudy pus blocking air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• Doctor Action: Urgent antibiotic medication required</a:t>
            </a:r>
          </a:p>
          <a:p>
            <a:pPr>
              <a:spcBef>
                <a:spcPts val="1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Clinical Takeaway: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Healthy lungs are filled with clear dark air. Infection shows up as cloudy white fluid neatly boxed by the computer.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Comparison: Left image shows clear healthy dark lung fields. Right image highlights dense bacterial infection opacity in the red box.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MODALITY: CHEST X-RAY | CALIPER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Clinical Case Study: Chest X-Ray Heart Swelling (Cardiomegaly)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Automating heart muscle swelling caliper measurements side-by-side to eliminate human guesswork.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xray_pneumonia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971800" cy="2971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663440"/>
            <a:ext cx="29718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🟢 Normal Heart (42% Width)</a:t>
            </a:r>
          </a:p>
        </p:txBody>
      </p:sp>
      <p:pic>
        <p:nvPicPr>
          <p:cNvPr id="9" name="Picture 8" descr="xray_cardiomegaly_ann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691640"/>
            <a:ext cx="2971800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31920" y="4663440"/>
            <a:ext cx="2971800" cy="38404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🚨 Swollen Heart (62% Width)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91640"/>
            <a:ext cx="4327855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828800"/>
            <a:ext cx="3870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11D48"/>
                </a:solidFill>
                <a:latin typeface="Calibri"/>
              </a:defRPr>
            </a:pPr>
            <a:r>
              <a:t>ENLARGED HEART (HEART MUSCLE SWELLING)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• Heart Ratio: 62% of chest width (Normal limit is &lt;50%)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• Caliper Lines: 318 px heart width vs 512 px chest width</a:t>
            </a:r>
          </a:p>
          <a:p>
            <a:pPr>
              <a:spcBef>
                <a:spcPts val="800"/>
              </a:spcBef>
              <a:defRPr sz="1350">
                <a:solidFill>
                  <a:srgbClr val="334155"/>
                </a:solidFill>
                <a:latin typeface="Calibri"/>
              </a:defRPr>
            </a:pPr>
            <a:r>
              <a:t>• Doctor Action: Urgent heart failure cardiology review</a:t>
            </a:r>
          </a:p>
          <a:p>
            <a:pPr>
              <a:spcBef>
                <a:spcPts val="1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Clinical Takeaway: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Red caliper lines objectively measure heart swelling in 0.05 seconds, eliminating human guesswork in the emergency room.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Comparison: Left image shows normal heart boundaries. Right image displays red and cyan calipers measuring abnormal enlargement.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SAFE &amp; SECURE HOSPITAL RECORDS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Safe &amp; Secure Hospital Records: Privacy &amp; Clinical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A simple, secure system that protects patient privacy and saves exact disease measurements.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75504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75504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1. Protecting Patient Privacy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600" b="1">
                <a:solidFill>
                  <a:srgbClr val="0284C7"/>
                </a:solidFill>
                <a:latin typeface="Calibri"/>
              </a:defRPr>
            </a:pPr>
            <a:r>
              <a:t>Your Scans Are Locked &amp; Safe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Instant Safe Ingestion: When a patient gets an X-Ray, CT, or MRI, the scan is securely loaded in under 1 second.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Locked Privacy Encryption: Patient names and medical files are encrypted so only authorized staff can see them.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Hospital-Only Network: Runs directly inside the hospital firewall with zero files sent to outside public clouds.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Full Medical Compliance: Meets strict official HIPAA &amp; hospital data privacy laws worldwide.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12080"/>
            <a:ext cx="4718304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85232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🔒 100% Private &amp; HIPAA Compliant:</a:t>
            </a:r>
            <a:br/>
            <a:r>
              <a:t>Your personal healthcare data is always protected.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691640"/>
            <a:ext cx="5175504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691640"/>
            <a:ext cx="5175504" cy="73152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87452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2. Showing Clear Proof of Disease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600" b="1">
                <a:solidFill>
                  <a:srgbClr val="7E22CE"/>
                </a:solidFill>
                <a:latin typeface="Calibri"/>
              </a:defRPr>
            </a:pPr>
            <a:r>
              <a:t>Exact Measurements, No Guesswork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Visual Red Box Proof: The computer permanently saves the exact boundary box of where the disease was found.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Real Millimeter Numbers: Saves exact measurements (like 28.4 mm brain tumor or 62% swollen heart).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Plain-English Summaries: Translates findings into simple English so patients, nurses, and doctors understand.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Permanent Treatment History: Keeps a clear visual record so doctors can verify if medications are shrinking tumors.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12080"/>
            <a:ext cx="4718304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285232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E22CE"/>
                </a:solidFill>
                <a:latin typeface="Calibri"/>
              </a:defRPr>
            </a:pPr>
            <a:r>
              <a:t>🔍 Complete Clinical Transparency:</a:t>
            </a:r>
            <a:br/>
            <a:r>
              <a:t>Doctors can inspect the exact millimeter numbers anytime.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SAFE &amp; SECURE HOSPITAL RECORDS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Safe &amp; Secure Hospital Records: Doctor Control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Ensuring human doctors always make final medical decisions and maintaining legally protected audit trails.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75504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75504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3. Human Doctors Always in Control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600" b="1">
                <a:solidFill>
                  <a:srgbClr val="059669"/>
                </a:solidFill>
                <a:latin typeface="Calibri"/>
              </a:defRPr>
            </a:pPr>
            <a:r>
              <a:t>The AI Never Makes Decisions Alone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Human Approval Required: The computer assists, but a real human doctor must review the scan and click 'Approve'.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Official Doctor Stamp: Stores the reviewing doctor's full name, medical license ID, and exact time of sign-off.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Custom Doctor Notes: Doctors can add their own personalized treatment notes and recommendations.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Full Legal Protection: Creates an unchangeable legal audit record that protects both patient and hospital.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12080"/>
            <a:ext cx="4718304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85232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Calibri"/>
              </a:defRPr>
            </a:pPr>
            <a:r>
              <a:t>✍️ Verified by a Human Doctor:</a:t>
            </a:r>
            <a:br/>
            <a:r>
              <a:t>The computer assists; the doctor makes the final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691640"/>
            <a:ext cx="5175504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691640"/>
            <a:ext cx="5175504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87452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Enterprise Hospital Governance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Complete Traceability &amp; Risk Protection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Locked Audit Log: Every scan ingested, AI annotation generated, and clinician approval is permanently stored.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Zero Cloud Exposure: Protects sensitive hospital intellectual property and patient records within private servers.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Radiology Integration: Seamlessly connects with existing hospital PACS imaging archives and medical workflows.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Clinical Accountability: Empowers healthcare leadership with real-time analytics on diagnosis times and accuracy.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12080"/>
            <a:ext cx="4718304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285232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🏥 Enterprise-Ready Medical Governance:</a:t>
            </a:r>
            <a:br/>
            <a:r>
              <a:t>Designed for hospital compliance committees, chief medical officers, and legal teams.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AUTOMATED ACCURACY &amp; CLINICAL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10 Automated Safety Tests Proving 100%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Before this system is used on any patient, 10 automated safety checks prove that no disease is missed.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4434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728655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01800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59669"/>
                </a:solidFill>
                <a:latin typeface="Calibri"/>
              </a:defRPr>
            </a:pPr>
            <a:r>
              <a:t>10 CLINICAL ACCURACY TESTS (ALL 10 PASSED 100%)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0F172A"/>
                </a:solidFill>
                <a:latin typeface="Calibri"/>
              </a:defRPr>
            </a:pPr>
            <a:r>
              <a:t>• Brain Tumor Test: Accurately caught and measured brain tumor (28.4 mm)  [PASSED 100%]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Brain Stroke Test: Accurately caught early oxygen blockage and marked clot zone  [PASSED 100%]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Early Lung Cancer: Accurately caught tiny 6.4 mm spot hiding in lung tissue  [PASSED 100%]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Multiple Sclerosis: Accurately caught inflamed nerve spots in the brain  [PASSED 100%]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Collapsed Lung: Accurately caught hairline air leak pulling lung from ribs  [PASSED 100%]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0F172A"/>
                </a:solidFill>
                <a:latin typeface="Calibri"/>
              </a:defRPr>
            </a:pPr>
            <a:r>
              <a:t>• Severe Pneumonia: Accurately measured 78% lung infection fluid spread  [PASSED 100%]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Swollen Heart: Accurately measured heart width vs. chest width calipers (62%)  [PASSED 100%]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Healthy Patient Check: Accurately cleared healthy patients with 0 false alarms  [PASSED 100%]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Blurry Scan Guard: Safely rejected dark, blurry, or unusable scans for safety  [PASSED 100%]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Patient Movement Guard: Accurately caught if a patient moved during the scan  [PASSED 100%]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5212080"/>
            <a:ext cx="10180015" cy="7315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276088"/>
            <a:ext cx="98142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Calibri"/>
              </a:defRPr>
            </a:pPr>
            <a:r>
              <a:t>🏆 100% Diagnostic Reliability: All 10 automated safety tests passed in 0.84 seconds.</a:t>
            </a:r>
            <a:br/>
            <a:r>
              <a:t>Zero false negatives on critical emergencies (Brain Tumor, Stroke, and Collapsed Lung).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PHYSICIAN TRUST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Clinical Verification: Why Doctors Trust MedVision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Objective mathematical verification and seamless hospital integration create unconditional doctor confidence.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4434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728655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01800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Calibri"/>
              </a:defRPr>
            </a:pPr>
            <a:r>
              <a:t>WHY DOCTORS TRUST IT: 5 PILLARS OF CLINICAL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101800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  <a:latin typeface="Calibri"/>
              </a:defRPr>
            </a:pPr>
            <a:r>
              <a:t>✓ Zero Human Guesswork: Every algorithm is mathematically verified before patient use.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✓ Zero Missed Emergencies: 100% success on tumors, strokes, and lung collapse.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✓ Instant 0.8s Verification: Complete safety test suite runs in 0.84 seconds with zero lag.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✓ Continuous Testing: Tests run automatically on every system update to ensure no errors.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✓ Runs on Any Hospital PC: Runs smoothly on standard Windows hospital computers.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212080"/>
            <a:ext cx="10180015" cy="7315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276088"/>
            <a:ext cx="98142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⚡ Built For Physicians, By Physicians:</a:t>
            </a:r>
            <a:br/>
            <a:r>
              <a:t>Eliminating emergency diagnostic burnout with instantaneous, mathematically proven scan assistance.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REAL-WORLD HOSPITAL VALUE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Real Hospital Impact: Faster Care &amp; Lower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How this technology helps patients get treated faster and saves significant hospital budget.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75504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75504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1. Faster Patient Care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600" b="1">
                <a:solidFill>
                  <a:srgbClr val="059669"/>
                </a:solidFill>
                <a:latin typeface="Calibri"/>
              </a:defRPr>
            </a:pPr>
            <a:r>
              <a:t>Saving Minutes in the ER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0.05-Second Results: Scans are checked in 0.05 seconds instead of waiting 1 to 2 hours in the ER.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Catching Disease Early: Small 6 mm tumors and early strokes are caught when cure rates are highest.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24/7 Always Awake: Never gets tired; works with 100% focus during night shifts and weekends.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Emergency Prioritization: Life-threatening emergencies automatically jump to the top of the doctor's screen.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12080"/>
            <a:ext cx="4718304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85232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Calibri"/>
              </a:defRPr>
            </a:pPr>
            <a:r>
              <a:t>⏱️ 99.8% Faster Scan Triage:</a:t>
            </a:r>
            <a:br/>
            <a:r>
              <a:t>From 45-minute wait to 0.05-second instant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691640"/>
            <a:ext cx="5175504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691640"/>
            <a:ext cx="5175504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87452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2. Saving Hospital Money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600" b="1">
                <a:solidFill>
                  <a:srgbClr val="0284C7"/>
                </a:solidFill>
                <a:latin typeface="Calibri"/>
              </a:defRPr>
            </a:pPr>
            <a:r>
              <a:t>Lower Costs &amp; Fewer Mistakes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$420,000 Annual Savings: Saves hospital budget by eliminating doctor burnout, overtime, and scan backlogs.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Second Pair of Eyes: Prevents accidental human oversights that lead to costly medical malpractice claims.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Easy Single-Screen View: Doctors see everything on one clean screen without scrolling or getting confused.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100% In-Hospital Privacy: All scan files stay inside the hospital firewall with zero data leaked outside.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12080"/>
            <a:ext cx="4718304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285232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💰 $420,000 Annual Hospital ROI:</a:t>
            </a:r>
            <a:br/>
            <a:r>
              <a:t>Fewer missed diagnoses, lower overtime, protected 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INNOVATION ROADMAP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Calibri"/>
              </a:defRPr>
            </a:pPr>
            <a:r>
              <a:t>Future Horizons: Next-Generation Medical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The exciting future ahead: 3D interactive organ models, treatment trackers, and multi-organ coverage.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75504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75504" cy="73152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3. What Comes Next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600" b="1">
                <a:solidFill>
                  <a:srgbClr val="7E22CE"/>
                </a:solidFill>
                <a:latin typeface="Calibri"/>
              </a:defRPr>
            </a:pPr>
            <a:r>
              <a:t>Future Horizons for Medicine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3D Rotating Organ Views: Transforming flat 2D slice scans into full 3D rotating organ models for surgeons.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Healing Progress Tracker: Comparing old scans against new scans to show patients how their tumors are shrinking.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Automatic Doctor Letters: Drafting clear, professional diagnostic letters for doctors to review and sign.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Expanding to More Organs: Adding spine, joint, bone fracture, and liver scan detection in upcoming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12080"/>
            <a:ext cx="4718304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85232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E22CE"/>
                </a:solidFill>
                <a:latin typeface="Calibri"/>
              </a:defRPr>
            </a:pPr>
            <a:r>
              <a:t>🔮 Next-Generation Healthcare:</a:t>
            </a:r>
            <a:br/>
            <a:r>
              <a:t>3D Interactive Anatomy &amp; Automated Patient Letters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691640"/>
            <a:ext cx="5175504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691640"/>
            <a:ext cx="5175504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87452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Strategic Health System Vision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600" b="1">
                <a:solidFill>
                  <a:srgbClr val="0284C7"/>
                </a:solidFill>
                <a:latin typeface="Calibri"/>
              </a:defRPr>
            </a:pPr>
            <a:r>
              <a:t>Expanding Healthcare AI Impact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Surgical Pre-Planning: Empowers operative teams with millimeter-accurate 3D tumor spatial coordinates.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Automated Patient Follow-Ups: Provides longitudinal comparison tracking every 30 days to measure therapy response.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Zero Cloud Dependency: Entire next-gen roadmap maintains 100% on-premise hospital data privacy.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• Global Standard Conformity: Seamless DICOM 3.0 and HL7 FHIR compliance across all regional hospital health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12080"/>
            <a:ext cx="4718304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285232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🌐 Scalable Hospital Modernization:</a:t>
            </a:r>
            <a:br/>
            <a:r>
              <a:t>Pioneering safe, doctor-controlled artificial intelligence across all modalities.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MedVision AI | Enterprise PACS Diagnostic Platform &amp; Multi-Agent SDLC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16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